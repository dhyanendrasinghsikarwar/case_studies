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Which Unusual Payments Are Problems, and Which Are Our Best Customers?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An outlier policy for payment monitoring · Risk Analytics for Payments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20,230 payments over a quarter.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the '3 standard deviations' rule flags the wrong payments and misses the right 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16 · Payment outliers: error, fraud, VIP or rare event?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The dashboard flags 58 payments; 35 (60%) are harmless</a:t>
            </a:r>
            <a:r>
              <a:rPr sz="1600" b="0">
                <a:solidFill>
                  <a:srgbClr val="1A1A1A"/>
                </a:solidFill>
                <a:latin typeface="Calibri"/>
              </a:rPr>
              <a:t> (VIPs, festival purchases, ordinary large payments).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It catches only 52% of the keying errors and 3% of the fraud.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A three-lens screen</a:t>
            </a:r>
            <a:r>
              <a:rPr sz="1600" b="0">
                <a:solidFill>
                  <a:srgbClr val="1A1A1A"/>
                </a:solidFill>
                <a:latin typeface="Calibri"/>
              </a:rPr>
              <a:t> (unusual for the segment, for the customer, and several risk flags) </a:t>
            </a:r>
            <a:r>
              <a:rPr sz="1600" b="1">
                <a:solidFill>
                  <a:srgbClr val="1A1A1A"/>
                </a:solidFill>
                <a:latin typeface="Calibri"/>
              </a:rPr>
              <a:t>catches all 40 errors and all 60 frauds</a:t>
            </a:r>
            <a:r>
              <a:rPr sz="1600" b="0">
                <a:solidFill>
                  <a:srgbClr val="1A1A1A"/>
                </a:solidFill>
                <a:latin typeface="Calibri"/>
              </a:rPr>
              <a:t> with 130 flags, and none of the VIP or festival payments.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Doing nothing about errors overstates the average ticket by 17%</a:t>
            </a:r>
            <a:r>
              <a:rPr sz="1600" b="0">
                <a:solidFill>
                  <a:srgbClr val="1A1A1A"/>
                </a:solidFill>
                <a:latin typeface="Calibri"/>
              </a:rPr>
              <a:t>; deleting the dashboard's flags understates it by 3.5%.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retire the 3-SD rule; correct errors, investigate fraud, keep and whitelist VIP and festival payments.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Payments are far from 'normally' distributed: each segment has its own normal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16 · Payment outliers: error, fraud, VIP or rare event?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am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2933"/>
            <a:ext cx="11094415" cy="301785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 ₹40,000 payment is routine at a jeweller and extraordinary at a grocer. One mean and one spread cannot describe both.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Four ways to define 'unusual' give 10, 16, 58 or 2,537 payments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16 · Payment outliers: error, fraud, VIP or rare event?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2_det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0563"/>
            <a:ext cx="11094415" cy="364259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dashboard's flags are simply the largest payments in the two most expensive segments.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There are four kinds of unusual payment, and each needs a different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16 · Payment outliers: error, fraud, VIP or rare event?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Data error:</a:t>
            </a:r>
            <a:r>
              <a:rPr sz="2000" b="0">
                <a:solidFill>
                  <a:srgbClr val="1A1A1A"/>
                </a:solidFill>
                <a:latin typeface="Calibri"/>
              </a:rPr>
              <a:t> typed 100× too large by an operator → </a:t>
            </a:r>
            <a:r>
              <a:rPr sz="2000" b="1">
                <a:solidFill>
                  <a:srgbClr val="1A1A1A"/>
                </a:solidFill>
                <a:latin typeface="Calibri"/>
              </a:rPr>
              <a:t>correct</a:t>
            </a:r>
            <a:r>
              <a:rPr sz="2000" b="0">
                <a:solidFill>
                  <a:srgbClr val="1A1A1A"/>
                </a:solidFill>
                <a:latin typeface="Calibri"/>
              </a:rPr>
              <a:t> it and fix the process.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Fraud:</a:t>
            </a:r>
            <a:r>
              <a:rPr sz="2000" b="0">
                <a:solidFill>
                  <a:srgbClr val="1A1A1A"/>
                </a:solidFill>
                <a:latin typeface="Calibri"/>
              </a:rPr>
              <a:t> new device, location mismatch, night time, burst → </a:t>
            </a:r>
            <a:r>
              <a:rPr sz="2000" b="1">
                <a:solidFill>
                  <a:srgbClr val="1A1A1A"/>
                </a:solidFill>
                <a:latin typeface="Calibri"/>
              </a:rPr>
              <a:t>investigate</a:t>
            </a:r>
            <a:r>
              <a:rPr sz="2000" b="0">
                <a:solidFill>
                  <a:srgbClr val="1A1A1A"/>
                </a:solidFill>
                <a:latin typeface="Calibri"/>
              </a:rPr>
              <a:t>; never delete.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VIP:</a:t>
            </a:r>
            <a:r>
              <a:rPr sz="2000" b="0">
                <a:solidFill>
                  <a:srgbClr val="1A1A1A"/>
                </a:solidFill>
                <a:latin typeface="Calibri"/>
              </a:rPr>
              <a:t> long-standing top-tier customer, amount in line with their own history → </a:t>
            </a:r>
            <a:r>
              <a:rPr sz="2000" b="1">
                <a:solidFill>
                  <a:srgbClr val="1A1A1A"/>
                </a:solidFill>
                <a:latin typeface="Calibri"/>
              </a:rPr>
              <a:t>keep</a:t>
            </a:r>
            <a:r>
              <a:rPr sz="2000" b="0">
                <a:solidFill>
                  <a:srgbClr val="1A1A1A"/>
                </a:solidFill>
                <a:latin typeface="Calibri"/>
              </a:rPr>
              <a:t>; do not alert.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Rare real event:</a:t>
            </a:r>
            <a:r>
              <a:rPr sz="2000" b="0">
                <a:solidFill>
                  <a:srgbClr val="1A1A1A"/>
                </a:solidFill>
                <a:latin typeface="Calibri"/>
              </a:rPr>
              <a:t> festival-week buying of jewellery or electronics by regular customers → </a:t>
            </a:r>
            <a:r>
              <a:rPr sz="2000" b="1">
                <a:solidFill>
                  <a:srgbClr val="1A1A1A"/>
                </a:solidFill>
                <a:latin typeface="Calibri"/>
              </a:rPr>
              <a:t>keep</a:t>
            </a:r>
            <a:r>
              <a:rPr sz="2000" b="0">
                <a:solidFill>
                  <a:srgbClr val="1A1A1A"/>
                </a:solidFill>
                <a:latin typeface="Calibri"/>
              </a:rPr>
              <a:t>; add an event calendar.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amount alone cannot tell them apart. Context can.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each method catches: only the combined screen finds both errors and fraud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16 · Payment outliers: error, fraud, VIP or rare event?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4_detector_gr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81" y="1554480"/>
            <a:ext cx="10928132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Left: what is flagged, by true type. Right: the share of real errors and frauds each method catches.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Scorecard of the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16 · Payment outliers: error, fraud, VIP or rare event?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2720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557"/>
                <a:gridCol w="1674628"/>
                <a:gridCol w="2302614"/>
                <a:gridCol w="2302614"/>
              </a:tblGrid>
              <a:tr h="3886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Flags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Errors caught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Fraud caught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Dashboard: 3 SD on raw 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IQR fence on raw ₹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2,537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Robust z on log ₹ (MAD)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Unusual for the customer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Several risk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Combined screen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Each lens finds something the others miss. Together they find everything with 130 flags instead of 2,537.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Triage by what the payment is: the rules separate errors, fraud, VIP and festival buying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16 · Payment outliers: error, fraud, VIP or rare event?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05_triage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091" y="1554480"/>
            <a:ext cx="6645512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Errors: 100% precise. Fraud: 100% precise, 97% caught. The remainder is ordinary variation.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each treatment does to the average ticket size Finance 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16 · Payment outliers: error, fraud, VIP or rare event?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06_treatment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372" y="1554480"/>
            <a:ext cx="8576950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Ignoring errors: +17%. Deleting all large payments or capping them also distorts. Correcting identified errors gets within 0.1%.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Outliers and the numbers Finance and Risk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16 · Payment outliers: error, fraud, VIP or rare event?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Average ticket:</a:t>
            </a:r>
            <a:r>
              <a:rPr sz="2000" b="0">
                <a:solidFill>
                  <a:srgbClr val="1A1A1A"/>
                </a:solidFill>
                <a:latin typeface="Calibri"/>
              </a:rPr>
              <a:t> correct identified errors and keep genuine extremes (−0.04% off the truth).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Typical ticket:</a:t>
            </a:r>
            <a:r>
              <a:rPr sz="2000" b="0">
                <a:solidFill>
                  <a:srgbClr val="1A1A1A"/>
                </a:solidFill>
                <a:latin typeface="Calibri"/>
              </a:rPr>
              <a:t> the median or a trimmed mean needs no cleaning.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Correlations:</a:t>
            </a:r>
            <a:r>
              <a:rPr sz="2000" b="0">
                <a:solidFill>
                  <a:srgbClr val="1A1A1A"/>
                </a:solidFill>
                <a:latin typeface="Calibri"/>
              </a:rPr>
              <a:t> 40 keying errors cut the correlation between a payment and the customer's usual payment from 0.81 to 0.30; rank and log-scale versions barely move.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Never delete a payment because it is big.</a:t>
            </a:r>
            <a:r>
              <a:rPr sz="2000" b="0">
                <a:solidFill>
                  <a:srgbClr val="1A1A1A"/>
                </a:solidFill>
                <a:latin typeface="Calibri"/>
              </a:rPr>
              <a:t> VIP and festival payments are data, and the model needs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Delete only what is wrong, and only when you know it is wrong.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16 · Payment outliers: error, fraud, VIP or rare event?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Retire the '3 standard deviations' dashboard rule.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Screen on the log scale, with three lenses:</a:t>
            </a:r>
            <a:r>
              <a:rPr sz="2000" b="0">
                <a:solidFill>
                  <a:srgbClr val="1A1A1A"/>
                </a:solidFill>
                <a:latin typeface="Calibri"/>
              </a:rPr>
              <a:t> unusual for the segment, unusual for the customer, several risk flags.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Route by type:</a:t>
            </a:r>
            <a:r>
              <a:rPr sz="2000" b="0">
                <a:solidFill>
                  <a:srgbClr val="1A1A1A"/>
                </a:solidFill>
                <a:latin typeface="Calibri"/>
              </a:rPr>
              <a:t> errors to correction, fraud to investigators, VIP and festival payments off the queue.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Add keying controls:</a:t>
            </a:r>
            <a:r>
              <a:rPr sz="2000" b="0">
                <a:solidFill>
                  <a:srgbClr val="1A1A1A"/>
                </a:solidFill>
                <a:latin typeface="Calibri"/>
              </a:rPr>
              <a:t> a 'did you mean ₹X?' check when an amount is 10× or more above the customer's usual.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Audit a random sample of flagged and unflagged payments each quarter</a:t>
            </a:r>
            <a:r>
              <a:rPr sz="2000" b="0">
                <a:solidFill>
                  <a:srgbClr val="1A1A1A"/>
                </a:solidFill>
                <a:latin typeface="Calibri"/>
              </a:rPr>
              <a:t> to keep the rules honest.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the new screen and routing rules.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16 · Payment outliers: error, fraud, VIP or rare event?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Rules are tuned to this simulated mix; real outliers overlap more.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Fraud confirmation lags by weeks in reality.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Thresholds are choices and should be tested on audits.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Stratified audit sample to measure precision and recall.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Supervised fraud model with confirmed labels (Case 12).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Festival calendar feature.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
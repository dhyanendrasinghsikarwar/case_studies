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What Really Drives Loan Default, and What Should Risk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A full analysis: data quality to policy · Credit Risk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24,000 synthetic personal-loan applications, 2022 for development and 2023 for out-of-time testing.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three proposed actions treat symptoms; the drivers are affordability and track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dashboard's claims fall apart once borrowers are compared like with like:</a:t>
            </a:r>
            <a:r>
              <a:rPr sz="1600" b="0">
                <a:solidFill>
                  <a:srgbClr val="1A1A1A"/>
                </a:solidFill>
                <a:latin typeface="Calibri"/>
              </a:rPr>
              <a:t> agent channel odds ratio 1.85 to 1.15, interest rate 1.64 to 1.06, income 0.89 to 0.98.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real drivers:</a:t>
            </a:r>
            <a:r>
              <a:rPr sz="1600" b="0">
                <a:solidFill>
                  <a:srgbClr val="1A1A1A"/>
                </a:solidFill>
                <a:latin typeface="Calibri"/>
              </a:rPr>
              <a:t> debt-to-income, loan size relative to income, utilisation, prior delinquency, credit score and employment type.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model ranks well and holds up in a later year:</a:t>
            </a:r>
            <a:r>
              <a:rPr sz="1600" b="0">
                <a:solidFill>
                  <a:srgbClr val="1A1A1A"/>
                </a:solidFill>
                <a:latin typeface="Calibri"/>
              </a:rPr>
              <a:t> AUC 0.793 out of time (the credit score alone: 0.726), nearly calibrated.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 model-based approval rule earns ₹334 lakh</a:t>
            </a:r>
            <a:r>
              <a:rPr sz="1600" b="0">
                <a:solidFill>
                  <a:srgbClr val="1A1A1A"/>
                </a:solidFill>
                <a:latin typeface="Calibri"/>
              </a:rPr>
              <a:t> on 2023 loans, against ₹135 lakh approving all and ₹191 lakh under an agent ban.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decline the three actions, adopt a probability-based approval rule, recalibrate, and monitor quarterly.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Step 1: the data needed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64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499"/>
                <a:gridCol w="1422360"/>
                <a:gridCol w="4551554"/>
              </a:tblGrid>
              <a:tr h="3771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exact duplicate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employment labels with inconsistent case or spaces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2,365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standardised to salaried / self_employed / gig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impossible ages (&lt;18 or &gt;80)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set to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incomes with two extra zeros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set to missing, then imputed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monthly income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median by employment type + missing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credit score missing (thin file)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1,231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indicator + set to the reference value 650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Income is missing more often for the agent channel and self-employed borrowers; a missing credit score signals risk (10.1% default vs 7.3%).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Step 2: default rises with debt-to-income, utilisation, loan size and falls with credit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1_default_by_dec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568" y="1554480"/>
            <a:ext cx="8894558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Default rate by decile of each variable, 95% intervals. City tier and loan amount carry no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Step 3: the dashboard's claims, raw and adjusted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claims_raw_vs_adju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65" y="1554480"/>
            <a:ext cx="1072416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Agent borrowers have lower credit scores (627 vs 660); the interest rate is correlated −0.84 with the score. Adjusting leaves little behind.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Step 4: what moves the probability of default (baseline 7.7%)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5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6649"/>
                <a:gridCol w="4437766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 in default probability (pp)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DTI +10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credit score +50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prior delinquency 0 to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loan-to-annual-income +0.5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+2.6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term +12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utilisation +20 points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self-employed (vs salaried)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gig (vs salaried)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+4.5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agent channel (vs branch)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Percentage-point effects from the logistic model. The agent channel adds about half a point once credit quality is in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Step 5: validation out of time (2023)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4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7434"/>
            <a:ext cx="11094415" cy="3028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AUC 0.793 (CI 0.777 to 0.808), KS 0.44, calibration slope 0.96. The agent share rose from 22% to 29% with little drift in scores.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Step 6: approval policies on 2023 loans (₹6,000 margin, ₹60,000 loss)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64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2991"/>
                <a:gridCol w="1566270"/>
                <a:gridCol w="1827315"/>
                <a:gridCol w="1957837"/>
              </a:tblGrid>
              <a:tr h="3771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Default rate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Profit (₹ lakh)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Approve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Reject the agent channel (dashboard proposal)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191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Credit score at least 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Model: approve if predicted PD below 9.1%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334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Model: approve if PD below 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Model: approve if PD below 12%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335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model-based cut-off beats the agent ban and the score rule of thumb; profit is flat between about 9% and 13%.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Profit against the model's cut-off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5_profit_vs_cut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295" y="1554480"/>
            <a:ext cx="800710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theoretical cut-off (9.1%) is close to the best on the sample. The result rests on the stated margin and loss.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Checking against the truth (training answer key)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9 of 10 coefficient intervals contain the true value;</a:t>
            </a:r>
            <a:r>
              <a:rPr sz="1800" b="0">
                <a:solidFill>
                  <a:srgbClr val="1A1A1A"/>
                </a:solidFill>
                <a:latin typeface="Calibri"/>
              </a:rPr>
              <a:t> the thin-file coefficient is the one miss.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three variables with no real effect</a:t>
            </a:r>
            <a:r>
              <a:rPr sz="1800" b="0">
                <a:solidFill>
                  <a:srgbClr val="1A1A1A"/>
                </a:solidFill>
                <a:latin typeface="Calibri"/>
              </a:rPr>
              <a:t> (interest rate, age, income) have intervals containing zero in the kitchen-sink model.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ceiling AUC using the true probabilities is 0.798;</a:t>
            </a:r>
            <a:r>
              <a:rPr sz="1800" b="0">
                <a:solidFill>
                  <a:srgbClr val="1A1A1A"/>
                </a:solidFill>
                <a:latin typeface="Calibri"/>
              </a:rPr>
              <a:t> the final model is at 0.793.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model captures about 95% of the attainable profit.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drivers are real, the proxies were seen through, and the model is close to the best possible.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stop agent lending:</a:t>
            </a:r>
            <a:r>
              <a:rPr sz="2000" b="0">
                <a:solidFill>
                  <a:srgbClr val="1A1A1A"/>
                </a:solidFill>
                <a:latin typeface="Calibri"/>
              </a:rPr>
              <a:t> underwrite agent loans with the same model; monitor the agent share.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raise the minimum income:</a:t>
            </a:r>
            <a:r>
              <a:rPr sz="2000" b="0">
                <a:solidFill>
                  <a:srgbClr val="1A1A1A"/>
                </a:solidFill>
                <a:latin typeface="Calibri"/>
              </a:rPr>
              <a:t> use DTI and loan-to-income limits.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price harder on rate segments:</a:t>
            </a:r>
            <a:r>
              <a:rPr sz="2000" b="0">
                <a:solidFill>
                  <a:srgbClr val="1A1A1A"/>
                </a:solidFill>
                <a:latin typeface="Calibri"/>
              </a:rPr>
              <a:t> price on the model's probability of default.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Adopt the probability-based approval rule</a:t>
            </a:r>
            <a:r>
              <a:rPr sz="2000" b="0">
                <a:solidFill>
                  <a:srgbClr val="1A1A1A"/>
                </a:solidFill>
                <a:latin typeface="Calibri"/>
              </a:rPr>
              <a:t> (cut-off about 9% to 13%) and recalibrate before pricing.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Monitor quarterly:</a:t>
            </a:r>
            <a:r>
              <a:rPr sz="2000" b="0">
                <a:solidFill>
                  <a:srgbClr val="1A1A1A"/>
                </a:solidFill>
                <a:latin typeface="Calibri"/>
              </a:rPr>
              <a:t> calibration, PSI, agent share, default by channel.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model-based rule for a controlled rollout.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27 · Capstone: loan default drivers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Observational: 'drivers' means associated after adjustment.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Costs and margins are assumptions.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One out-of-time year.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Synthetic data; no answer key in real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Randomised cut-off test on borderline applications.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Bureau and behavioural data.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Challenger model compared out of time.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Fairness and compliance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
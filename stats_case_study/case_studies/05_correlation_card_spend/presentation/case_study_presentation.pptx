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463040" cy="73152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Calibri"/>
              </a:rPr>
              <a:t>Three Growth Proposals, Three Misleading Correlations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D6EA"/>
                </a:solidFill>
                <a:latin typeface="Calibri"/>
              </a:rPr>
              <a:t>Review of the card-spend growth plan for the Head of Cards · Cards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A9B8CF"/>
                </a:solidFill>
                <a:latin typeface="Calibri"/>
              </a:rPr>
              <a:t>6,000 cardholders and 36 months of portfolio data. Synthetic data created for training. Not actual customer data.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Summary: none of the three correlations supports the decision built on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Raise all limits by 30%?</a:t>
            </a:r>
            <a:r>
              <a:rPr sz="1700" b="0">
                <a:solidFill>
                  <a:srgbClr val="1A1A1A"/>
                </a:solidFill>
                <a:latin typeface="Calibri"/>
              </a:rPr>
              <a:t> Limits and spend move together mainly because </a:t>
            </a:r>
            <a:r>
              <a:rPr sz="1700" b="1">
                <a:solidFill>
                  <a:srgbClr val="1A1A1A"/>
                </a:solidFill>
                <a:latin typeface="Calibri"/>
              </a:rPr>
              <a:t>income drives both</a:t>
            </a:r>
            <a:r>
              <a:rPr sz="1700" b="0">
                <a:solidFill>
                  <a:srgbClr val="1A1A1A"/>
                </a:solidFill>
                <a:latin typeface="Calibri"/>
              </a:rPr>
              <a:t>, and because we raise limits for big spenders. Expected gain: about </a:t>
            </a:r>
            <a:r>
              <a:rPr sz="1700" b="1">
                <a:solidFill>
                  <a:srgbClr val="1A1A1A"/>
                </a:solidFill>
                <a:latin typeface="Calibri"/>
              </a:rPr>
              <a:t>+1.5%</a:t>
            </a:r>
            <a:r>
              <a:rPr sz="1700" b="0">
                <a:solidFill>
                  <a:srgbClr val="1A1A1A"/>
                </a:solidFill>
                <a:latin typeface="Calibri"/>
              </a:rPr>
              <a:t> of spend, not +27%.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App users spend less?</a:t>
            </a:r>
            <a:r>
              <a:rPr sz="1700" b="0">
                <a:solidFill>
                  <a:srgbClr val="1A1A1A"/>
                </a:solidFill>
                <a:latin typeface="Calibri"/>
              </a:rPr>
              <a:t> Only because Mass customers log in more. </a:t>
            </a:r>
            <a:r>
              <a:rPr sz="1700" b="1">
                <a:solidFill>
                  <a:srgbClr val="1A1A1A"/>
                </a:solidFill>
                <a:latin typeface="Calibri"/>
              </a:rPr>
              <a:t>Within every customer group, app users spend more.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Age doesn't matter?</a:t>
            </a:r>
            <a:r>
              <a:rPr sz="1700" b="0">
                <a:solidFill>
                  <a:srgbClr val="1A1A1A"/>
                </a:solidFill>
                <a:latin typeface="Calibri"/>
              </a:rPr>
              <a:t> It does: spending peaks in the early 40s. A simple correlation cannot see a curve.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Marketing drives spend (r = 0.91)?</a:t>
            </a:r>
            <a:r>
              <a:rPr sz="1700" b="0">
                <a:solidFill>
                  <a:srgbClr val="1A1A1A"/>
                </a:solidFill>
                <a:latin typeface="Calibri"/>
              </a:rPr>
              <a:t> Both just grew over time. Month to month, they are unrelated.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Recommendation: no blanket limit increase; keep app investment and age targeting; test changes before rolling them out.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 correlation describes the past; a decision needs to know what changes if we act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What a correlation can tell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Two things tend to move together.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How strongly, in the data we have.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What it cannot tell 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1">
                <a:solidFill>
                  <a:srgbClr val="1A1A1A"/>
                </a:solidFill>
                <a:latin typeface="Calibri"/>
              </a:rPr>
              <a:t>Why</a:t>
            </a:r>
            <a:r>
              <a:rPr sz="1700" b="0">
                <a:solidFill>
                  <a:srgbClr val="1A1A1A"/>
                </a:solidFill>
                <a:latin typeface="Calibri"/>
              </a:rPr>
              <a:t> they move together.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Which one drives the other.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What happens if </a:t>
            </a:r>
            <a:r>
              <a:rPr sz="1700" b="1">
                <a:solidFill>
                  <a:srgbClr val="1A1A1A"/>
                </a:solidFill>
                <a:latin typeface="Calibri"/>
              </a:rPr>
              <a:t>we</a:t>
            </a:r>
            <a:r>
              <a:rPr sz="1700" b="0">
                <a:solidFill>
                  <a:srgbClr val="1A1A1A"/>
                </a:solidFill>
                <a:latin typeface="Calibri"/>
              </a:rPr>
              <a:t> change one of them.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Before acting on any correlation, ask: could a third factor, or the reverse direction, explain it?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Even the strength of the correlation depended on data problems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4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0.41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with data errors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15 spends keyed in paise made the link look weak.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338218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0.86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with corporate cards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12 special cards made it look stronger.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8127796" y="1828800"/>
            <a:ext cx="3515258" cy="3017520"/>
          </a:xfrm>
          <a:prstGeom prst="rect">
            <a:avLst/>
          </a:prstGeom>
          <a:solidFill>
            <a:srgbClr val="F5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274320"/>
          <a:lstStyle/>
          <a:p>
            <a:pPr algn="ctr"/>
            <a:r>
              <a:rPr sz="3600" b="1">
                <a:solidFill>
                  <a:srgbClr val="142B4C"/>
                </a:solidFill>
                <a:latin typeface="Calibri"/>
              </a:rPr>
              <a:t>0.70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A1A1A"/>
                </a:solidFill>
                <a:latin typeface="Calibri"/>
              </a:rPr>
              <a:t>robust measure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52514E"/>
                </a:solidFill>
                <a:latin typeface="Calibri"/>
              </a:rPr>
              <a:t>Rank-based correlation: unaffected either way.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27 unusual rows out of 6,000 swung the dashboard number. Robust measures and a look at the data come first.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Raising limits for everyone would add about 1.5% to spend, not 27%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5</a:t>
            </a:r>
          </a:p>
        </p:txBody>
      </p:sp>
      <p:pic>
        <p:nvPicPr>
          <p:cNvPr id="6" name="Picture 5" descr="fig03_naive_vs_true_eff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64728"/>
            <a:ext cx="6656649" cy="2574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25329" y="1645920"/>
            <a:ext cx="4117726" cy="3794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1">
                <a:solidFill>
                  <a:srgbClr val="1A1A1A"/>
                </a:solidFill>
                <a:latin typeface="Calibri"/>
              </a:rPr>
              <a:t>Income</a:t>
            </a:r>
            <a:r>
              <a:rPr sz="1600" b="0">
                <a:solidFill>
                  <a:srgbClr val="1A1A1A"/>
                </a:solidFill>
                <a:latin typeface="Calibri"/>
              </a:rPr>
              <a:t> drives both the limit we set and what customers spend.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We already raise limits for heavy users: they spend </a:t>
            </a:r>
            <a:r>
              <a:rPr sz="1600" b="1">
                <a:solidFill>
                  <a:srgbClr val="1A1A1A"/>
                </a:solidFill>
                <a:latin typeface="Calibri"/>
              </a:rPr>
              <a:t>2.1×</a:t>
            </a:r>
            <a:r>
              <a:rPr sz="1600" b="0">
                <a:solidFill>
                  <a:srgbClr val="1A1A1A"/>
                </a:solidFill>
                <a:latin typeface="Calibri"/>
              </a:rPr>
              <a:t> more.</a:t>
            </a:r>
          </a:p>
          <a:p>
            <a:pPr>
              <a:spcAft>
                <a:spcPts val="1000"/>
              </a:spcAft>
            </a:pPr>
            <a:r>
              <a:rPr sz="1600" b="1">
                <a:solidFill>
                  <a:srgbClr val="2A78D6"/>
                </a:solidFill>
                <a:latin typeface="Calibri"/>
              </a:rPr>
              <a:t>•  </a:t>
            </a:r>
            <a:r>
              <a:rPr sz="1600" b="0">
                <a:solidFill>
                  <a:srgbClr val="1A1A1A"/>
                </a:solidFill>
                <a:latin typeface="Calibri"/>
              </a:rPr>
              <a:t>Most customers use only 15–35% of their limit, so a higher limit changes nothing for them.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 blanket increase adds credit risk on the whole book to gain spend from about 1 customer in 20.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Most customers are nowhere near their limit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6</a:t>
            </a:r>
          </a:p>
        </p:txBody>
      </p:sp>
      <p:pic>
        <p:nvPicPr>
          <p:cNvPr id="6" name="Picture 5" descr="fig02_utilisation_headr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3865" y="1554480"/>
            <a:ext cx="7063964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Only the small group at the right could spend more with a higher limit. Target and test them instead.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App users spend MORE within every customer group; the opposite pooled pattern is a mix-up of segments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7</a:t>
            </a:r>
          </a:p>
        </p:txBody>
      </p:sp>
      <p:pic>
        <p:nvPicPr>
          <p:cNvPr id="6" name="Picture 5" descr="fig04_logins_revers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6315" y="1554480"/>
            <a:ext cx="10399065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Pooled: −0.12. Within segments: +0.35 to +0.58. Mass customers log in most but spend least.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Age matters: spending (relative to income) peaks in the early 40s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8</a:t>
            </a:r>
          </a:p>
        </p:txBody>
      </p:sp>
      <p:pic>
        <p:nvPicPr>
          <p:cNvPr id="6" name="Picture 5" descr="fig05_age_inverted_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562" y="1554480"/>
            <a:ext cx="10826571" cy="379476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Correlation measures straight lines only. A rise-then-fall pattern shows up as 'zero correlation'.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Marketing and card spend both grew, but month-to-month they don't move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06_spurious_time_se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82801"/>
            <a:ext cx="11094415" cy="37381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Any two growing numbers correlate. Measuring marketing's effect needs a proper marketing-mix analysis.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11094415" cy="3749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No blanket limit increase.</a:t>
            </a:r>
            <a:r>
              <a:rPr sz="2000" b="0">
                <a:solidFill>
                  <a:srgbClr val="1A1A1A"/>
                </a:solidFill>
                <a:latin typeface="Calibri"/>
              </a:rPr>
              <a:t> Run a </a:t>
            </a:r>
            <a:r>
              <a:rPr sz="2000" b="1">
                <a:solidFill>
                  <a:srgbClr val="1A1A1A"/>
                </a:solidFill>
                <a:latin typeface="Calibri"/>
              </a:rPr>
              <a:t>randomised test</a:t>
            </a:r>
            <a:r>
              <a:rPr sz="2000" b="0">
                <a:solidFill>
                  <a:srgbClr val="1A1A1A"/>
                </a:solidFill>
                <a:latin typeface="Calibri"/>
              </a:rPr>
              <a:t> of limit increases for near-limit, low-risk customers, measuring spend and losses.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 the app budget.</a:t>
            </a:r>
            <a:r>
              <a:rPr sz="2000" b="0">
                <a:solidFill>
                  <a:srgbClr val="1A1A1A"/>
                </a:solidFill>
                <a:latin typeface="Calibri"/>
              </a:rPr>
              <a:t> Test app campaigns with a holdout group to measure their real effect.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Keep life-stage (age) targeting</a:t>
            </a:r>
            <a:r>
              <a:rPr sz="2000" b="0">
                <a:solidFill>
                  <a:srgbClr val="1A1A1A"/>
                </a:solidFill>
                <a:latin typeface="Calibri"/>
              </a:rPr>
              <a:t>: mid-career customers spend the most.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Fix the dashboard:</a:t>
            </a:r>
            <a:r>
              <a:rPr sz="2000" b="0">
                <a:solidFill>
                  <a:srgbClr val="1A1A1A"/>
                </a:solidFill>
                <a:latin typeface="Calibri"/>
              </a:rPr>
              <a:t> correct the paise error, report corporate cards separately, show scatter plots and robust correlations.</a:t>
            </a:r>
          </a:p>
          <a:p>
            <a:pPr>
              <a:spcAft>
                <a:spcPts val="1000"/>
              </a:spcAft>
            </a:pPr>
            <a:r>
              <a:rPr sz="2000" b="1">
                <a:solidFill>
                  <a:srgbClr val="2A78D6"/>
                </a:solidFill>
                <a:latin typeface="Calibri"/>
              </a:rPr>
              <a:t>•  </a:t>
            </a:r>
            <a:r>
              <a:rPr sz="2000" b="1">
                <a:solidFill>
                  <a:srgbClr val="1A1A1A"/>
                </a:solidFill>
                <a:latin typeface="Calibri"/>
              </a:rPr>
              <a:t>Commission a marketing-mix analysis</a:t>
            </a:r>
            <a:r>
              <a:rPr sz="2000" b="0">
                <a:solidFill>
                  <a:srgbClr val="1A1A1A"/>
                </a:solidFill>
                <a:latin typeface="Calibri"/>
              </a:rPr>
              <a:t> before claiming marketing drives spend.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532120"/>
            <a:ext cx="11094415" cy="777240"/>
          </a:xfrm>
          <a:prstGeom prst="rect">
            <a:avLst/>
          </a:prstGeom>
          <a:solidFill>
            <a:srgbClr val="EE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rIns="274320"/>
          <a:lstStyle/>
          <a:p>
            <a:pPr algn="l"/>
            <a:r>
              <a:rPr sz="1600" b="0">
                <a:solidFill>
                  <a:srgbClr val="142B4C"/>
                </a:solidFill>
                <a:latin typeface="Calibri"/>
              </a:rPr>
              <a:t>Decision: reject proposals 1–3 as stated; approve two small experiments that measure real effects.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532120"/>
            <a:ext cx="82296" cy="777240"/>
          </a:xfrm>
          <a:prstGeom prst="rect">
            <a:avLst/>
          </a:prstGeom>
          <a:solidFill>
            <a:srgbClr val="2A78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2600" b="1">
                <a:solidFill>
                  <a:srgbClr val="142B4C"/>
                </a:solidFill>
                <a:latin typeface="Calibri"/>
              </a:rPr>
              <a:t>Limitations and next steps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98448"/>
            <a:ext cx="1097280" cy="54864"/>
          </a:xfrm>
          <a:prstGeom prst="rect">
            <a:avLst/>
          </a:prstGeom>
          <a:solidFill>
            <a:srgbClr val="EB68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8A8985"/>
                </a:solidFill>
                <a:latin typeface="Calibri"/>
              </a:rPr>
              <a:t>Case 05 · What correlation can and cannot tell you · synthetic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8A89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2A78D6"/>
                </a:solidFill>
                <a:latin typeface="Calibri"/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Snapshot data (6-month averages).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Engagement measured only by logins.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Only 36 months for the marketing question.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24447" y="1600200"/>
            <a:ext cx="5318607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1">
                <a:solidFill>
                  <a:srgbClr val="EB6834"/>
                </a:solidFill>
                <a:latin typeface="Calibri"/>
              </a:rPr>
              <a:t>Next steps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447" y="2148840"/>
            <a:ext cx="5318607" cy="4069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Design the limit-increase test (sample size, risk guardrails).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App campaign test with holdout.</a:t>
            </a:r>
          </a:p>
          <a:p>
            <a:pPr>
              <a:spcAft>
                <a:spcPts val="1000"/>
              </a:spcAft>
            </a:pPr>
            <a:r>
              <a:rPr sz="1700" b="1">
                <a:solidFill>
                  <a:srgbClr val="2A78D6"/>
                </a:solidFill>
                <a:latin typeface="Calibri"/>
              </a:rPr>
              <a:t>•  </a:t>
            </a:r>
            <a:r>
              <a:rPr sz="1700" b="0">
                <a:solidFill>
                  <a:srgbClr val="1A1A1A"/>
                </a:solidFill>
                <a:latin typeface="Calibri"/>
              </a:rPr>
              <a:t>Spend model with income, age and segment.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
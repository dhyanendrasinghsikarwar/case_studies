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Who Did We Actually Hear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Why the 7.9 / 10 satisfaction score should not go in the annual report · Retail Banking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40,000 active customers invited; 2,058 answered.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a precise number that is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survey says 7.9 out of 10 and NPS +19</a:t>
            </a:r>
            <a:r>
              <a:rPr sz="1800" b="0">
                <a:solidFill>
                  <a:srgbClr val="1A1A1A"/>
                </a:solidFill>
                <a:latin typeface="Calibri"/>
              </a:rPr>
              <a:t>, with a margin of error of only ±0.07, but only </a:t>
            </a:r>
            <a:r>
              <a:rPr sz="1800" b="1">
                <a:solidFill>
                  <a:srgbClr val="1A1A1A"/>
                </a:solidFill>
                <a:latin typeface="Calibri"/>
              </a:rPr>
              <a:t>5%</a:t>
            </a:r>
            <a:r>
              <a:rPr sz="1800" b="0">
                <a:solidFill>
                  <a:srgbClr val="1A1A1A"/>
                </a:solidFill>
                <a:latin typeface="Calibri"/>
              </a:rPr>
              <a:t> of customers replied.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Respondents are not our customers:</a:t>
            </a:r>
            <a:r>
              <a:rPr sz="1800" b="0">
                <a:solidFill>
                  <a:srgbClr val="1A1A1A"/>
                </a:solidFill>
                <a:latin typeface="Calibri"/>
              </a:rPr>
              <a:t> older, more digital and less likely to have complained. Response ranged from 1.8% to 11.7% across groups.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Weighting to the customer base</a:t>
            </a:r>
            <a:r>
              <a:rPr sz="1800" b="0">
                <a:solidFill>
                  <a:srgbClr val="1A1A1A"/>
                </a:solidFill>
                <a:latin typeface="Calibri"/>
              </a:rPr>
              <a:t> lowers the score to 7.63 (NPS +9) but still leaves most of the error, because happier customers answer more even within a group.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A random phone follow-up of non-respondents</a:t>
            </a:r>
            <a:r>
              <a:rPr sz="1800" b="0">
                <a:solidFill>
                  <a:srgbClr val="1A1A1A"/>
                </a:solidFill>
                <a:latin typeface="Calibri"/>
              </a:rPr>
              <a:t> gives 7.28, and a combined estimate of 7.31. The true value was 7.07 (NPS −13).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do not publish 7.9. Report a range with the response rate, and use a random sample with follow-up next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headline versus what we later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7.87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Naive survey mean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NPS +19; interval 7.80–7.94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7.63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After weighting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NPS +9; still too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7.31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With phone follow-up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random sample of non-respondents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7.07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Truth (answer key)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NPS −13; leavers pull all-customer view to 6.83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confidence interval measures sampling error. It said nothing about the +0.80 bias.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Who answers? Older, app-using, non-complaining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1_respons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0461"/>
            <a:ext cx="11094415" cy="31427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Response rate rises from under 2% for the youngest to about 12% for the over-60s. A representative survey needs similar rates in every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Respondents do not look like our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responden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739" y="1554480"/>
            <a:ext cx="7402216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Dots on the right of the grey line are over-represented among respondents; customers with complaints are under-represented.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Weighting makes respondents look like the customer base, at a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7597"/>
            <a:ext cx="11094415" cy="3628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Weights run from about 5 to 245. Effective sample size falls from 2,058 to about 1,323.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Grading the estimates (truth: 7.07)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494"/>
                <a:gridCol w="1849069"/>
                <a:gridCol w="2157247"/>
                <a:gridCol w="2773603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 score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Error vs truth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Interval contains truth?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Naive (unweighted)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Post-stratified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7.66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+0.59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Raked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Inverse propensity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7.62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+0.55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Phone follow-up combined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7.31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+0.24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Weighting removes about 30% of the error. The follow-up gets closest. No interval contains the truth: bias, not noise, is the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Measured error versus the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4_estimator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696" y="1554480"/>
            <a:ext cx="8546303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Customers who left scored 5.2. Including them, the experience of everyone served this year was 6.83.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much hidden bias can a conclusion survive?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If non-respondents score just </a:t>
            </a:r>
            <a:r>
              <a:rPr sz="1800" b="1">
                <a:solidFill>
                  <a:srgbClr val="1A1A1A"/>
                </a:solidFill>
                <a:latin typeface="Calibri"/>
              </a:rPr>
              <a:t>0.14 points lower</a:t>
            </a:r>
            <a:r>
              <a:rPr sz="1800" b="0">
                <a:solidFill>
                  <a:srgbClr val="1A1A1A"/>
                </a:solidFill>
                <a:latin typeface="Calibri"/>
              </a:rPr>
              <a:t> than weighted respondents, the average drops below 7.5.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At </a:t>
            </a:r>
            <a:r>
              <a:rPr sz="1800" b="1">
                <a:solidFill>
                  <a:srgbClr val="1A1A1A"/>
                </a:solidFill>
                <a:latin typeface="Calibri"/>
              </a:rPr>
              <a:t>0.67 points lower</a:t>
            </a:r>
            <a:r>
              <a:rPr sz="1800" b="0">
                <a:solidFill>
                  <a:srgbClr val="1A1A1A"/>
                </a:solidFill>
                <a:latin typeface="Calibri"/>
              </a:rPr>
              <a:t> it drops below 7.0. The phone follow-up showed a gap of about 0.36.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With a 95% non-response rate the non-respondents are almost everyone, so even small differences matter.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At a gap of 0.2 the implied average is 7.44.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Very low response rates need a follow-up study before any number is published.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a better survey design would have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05_design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3666"/>
            <a:ext cx="11094415" cy="35363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random 800 has bias 0.00 and 95% coverage. 800 volunteers have bias +0.80 and 0% coverage.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publish 7.9 or NPS +19.</a:t>
            </a:r>
            <a:r>
              <a:rPr sz="2000" b="0">
                <a:solidFill>
                  <a:srgbClr val="1A1A1A"/>
                </a:solidFill>
                <a:latin typeface="Calibri"/>
              </a:rPr>
              <a:t> If a number is needed, give a range (about 7.3 to 7.6) with the response rate and who it covers.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Compare years only with the same method.</a:t>
            </a:r>
            <a:r>
              <a:rPr sz="2000" b="0">
                <a:solidFill>
                  <a:srgbClr val="1A1A1A"/>
                </a:solidFill>
                <a:latin typeface="Calibri"/>
              </a:rPr>
              <a:t> A change in who answers looks like a change in satisfaction.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Next survey:</a:t>
            </a:r>
            <a:r>
              <a:rPr sz="2000" b="0">
                <a:solidFill>
                  <a:srgbClr val="1A1A1A"/>
                </a:solidFill>
                <a:latin typeface="Calibri"/>
              </a:rPr>
              <a:t> a stratified random sample, reminder waves and a follow-up of a random sample of non-respondents.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Add an exit survey</a:t>
            </a:r>
            <a:r>
              <a:rPr sz="2000" b="0">
                <a:solidFill>
                  <a:srgbClr val="1A1A1A"/>
                </a:solidFill>
                <a:latin typeface="Calibri"/>
              </a:rPr>
              <a:t> so customers who left are not invisible.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Monitor response rate by group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every survey.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a random-sample design for the next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18 · Customer satisfaction survey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Weights use only variables on the customer list; hidden drivers remain.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Only 60% of the follow-up sample was reached.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Synthetic population with a chosen response mechanism.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Run a stratified random-sample survey in parallel.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Run an exit survey for leavers.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Track response rates by age, app use and complaints.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
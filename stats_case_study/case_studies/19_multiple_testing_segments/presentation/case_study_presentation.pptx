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246120"/>
            <a:ext cx="1463040" cy="73152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Which Segments Really Respond to the Campaign?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2044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D6EA"/>
                </a:solidFill>
                <a:latin typeface="Calibri"/>
              </a:rPr>
              <a:t>Multiple testing across 40 customer segments · Campaign Analytics for Cards Marketing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A9B8CF"/>
                </a:solidFill>
                <a:latin typeface="Calibri"/>
              </a:rPr>
              <a:t>Randomised SMS test in 40 segments, two waves, about 258,000 customers. Synthetic data created for training. Not actual customer data.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Summary: the campaign works overall, but the 'seven winning segments' are partly luck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19 · Testing a campaign across 40 segments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94415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•  </a:t>
            </a:r>
            <a:r>
              <a:rPr sz="1600" b="1">
                <a:solidFill>
                  <a:srgbClr val="1A1A1A"/>
                </a:solidFill>
                <a:latin typeface="Calibri"/>
              </a:rPr>
              <a:t>The SMS lifts conversion by about 0.2 percentage points overall</a:t>
            </a:r>
            <a:r>
              <a:rPr sz="1600" b="0">
                <a:solidFill>
                  <a:srgbClr val="1A1A1A"/>
                </a:solidFill>
                <a:latin typeface="Calibri"/>
              </a:rPr>
              <a:t> (95% CI 0.04 to 0.40, tested once): real but small.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•  </a:t>
            </a:r>
            <a:r>
              <a:rPr sz="1600" b="1">
                <a:solidFill>
                  <a:srgbClr val="1A1A1A"/>
                </a:solidFill>
                <a:latin typeface="Calibri"/>
              </a:rPr>
              <a:t>Seven of 40 segments are 'significant' at 5%.</a:t>
            </a:r>
            <a:r>
              <a:rPr sz="1600" b="0">
                <a:solidFill>
                  <a:srgbClr val="1A1A1A"/>
                </a:solidFill>
                <a:latin typeface="Calibri"/>
              </a:rPr>
              <a:t> But even a useless campaign would flag about </a:t>
            </a:r>
            <a:r>
              <a:rPr sz="1600" b="1">
                <a:solidFill>
                  <a:srgbClr val="1A1A1A"/>
                </a:solidFill>
                <a:latin typeface="Calibri"/>
              </a:rPr>
              <a:t>2</a:t>
            </a:r>
            <a:r>
              <a:rPr sz="1600" b="0">
                <a:solidFill>
                  <a:srgbClr val="1A1A1A"/>
                </a:solidFill>
                <a:latin typeface="Calibri"/>
              </a:rPr>
              <a:t> segments, and at least one in </a:t>
            </a:r>
            <a:r>
              <a:rPr sz="1600" b="1">
                <a:solidFill>
                  <a:srgbClr val="1A1A1A"/>
                </a:solidFill>
                <a:latin typeface="Calibri"/>
              </a:rPr>
              <a:t>87%</a:t>
            </a:r>
            <a:r>
              <a:rPr sz="1600" b="0">
                <a:solidFill>
                  <a:srgbClr val="1A1A1A"/>
                </a:solidFill>
                <a:latin typeface="Calibri"/>
              </a:rPr>
              <a:t> of campaigns.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•  </a:t>
            </a:r>
            <a:r>
              <a:rPr sz="1600" b="1">
                <a:solidFill>
                  <a:srgbClr val="1A1A1A"/>
                </a:solidFill>
                <a:latin typeface="Calibri"/>
              </a:rPr>
              <a:t>After correcting for 40 looks:</a:t>
            </a:r>
            <a:r>
              <a:rPr sz="1600" b="0">
                <a:solidFill>
                  <a:srgbClr val="1A1A1A"/>
                </a:solidFill>
                <a:latin typeface="Calibri"/>
              </a:rPr>
              <a:t> 2 segments are confirmed (strict, same as the 5% false-discovery screen); four more are promising at a 10% screen.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•  </a:t>
            </a:r>
            <a:r>
              <a:rPr sz="1600" b="1">
                <a:solidFill>
                  <a:srgbClr val="1A1A1A"/>
                </a:solidFill>
                <a:latin typeface="Calibri"/>
              </a:rPr>
              <a:t>Winners' uplifts are inflated:</a:t>
            </a:r>
            <a:r>
              <a:rPr sz="1600" b="0">
                <a:solidFill>
                  <a:srgbClr val="1A1A1A"/>
                </a:solidFill>
                <a:latin typeface="Calibri"/>
              </a:rPr>
              <a:t> wave-1 winners averaged +2.4 points in wave 1 and only +0.9 in fresh wave-2 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Recommendation: keep the broad campaign, budget on shrunken uplifts, and confirm the promising segments in a third wave.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Forest plot: seven segments cross the line, but with 40 tests that is not surprising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19 · Testing a campaign across 40 segments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3</a:t>
            </a:r>
          </a:p>
        </p:txBody>
      </p:sp>
      <p:pic>
        <p:nvPicPr>
          <p:cNvPr id="6" name="Picture 5" descr="fig01_forest_and_p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708" y="1554480"/>
            <a:ext cx="8202278" cy="37947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The spike of small p-values (right) says some segments truly respond; the flat part says many do not.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If the campaign did nothing, we would still see 'winners'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19 · Testing a campaign across 40 segments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4</a:t>
            </a:r>
          </a:p>
        </p:txBody>
      </p:sp>
      <p:pic>
        <p:nvPicPr>
          <p:cNvPr id="6" name="Picture 5" descr="fig02_all_null_sim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87471"/>
            <a:ext cx="11094415" cy="372877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Left: the number of 'significant' segments in 5,000 simulated campaigns with no effect anywhere.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Correcting for 40 looks changes the 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19 · Testing a campaign across 40 segments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94414" cy="2000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6721"/>
                <a:gridCol w="2017166"/>
                <a:gridCol w="4370527"/>
              </a:tblGrid>
              <a:tr h="40005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Declared winners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controls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p &lt; 0.05, no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nothing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Bonferroni (strict, any false alarm)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chance of ANY false winner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Holm (strict, more power)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chance of ANY false winner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Benjamini-Hochberg, 5% false discoveries</a:t>
                      </a:r>
                    </a:p>
                  </a:txBody>
                  <a:tcPr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share of false winners among winners</a:t>
                      </a:r>
                    </a:p>
                  </a:txBody>
                  <a:tcPr>
                    <a:solidFill>
                      <a:srgbClr val="EEF4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Strict corrections protect against any false winner but miss real responders. The strict rules found only 2 of the 8 real responders; a 10% false-discovery screen finds 4 but with 2 false entries, so it feeds a confirmation wave.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Where each correction draws the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19 · Testing a campaign across 40 segments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6</a:t>
            </a:r>
          </a:p>
        </p:txBody>
      </p:sp>
      <p:pic>
        <p:nvPicPr>
          <p:cNvPr id="6" name="Picture 5" descr="fig03_correction_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8560" y="1554480"/>
            <a:ext cx="7834575" cy="37947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Points under the green line are discoveries at a 5% false-discovery rate; points under the red line survive the strictest rule.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The winner's curse: wave-1 winners fall back in wave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19 · Testing a campaign across 40 segments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fig04_winners_cur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2509" y="1554480"/>
            <a:ext cx="4626677" cy="37947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Selecting the best-looking segments selects partly for luck. Their average uplift fell from +2.4 to +0.9 points in fresh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Checking against the truth: evidence strength and what each method declares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19 · Testing a campaign across 40 segments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8</a:t>
            </a:r>
          </a:p>
        </p:txBody>
      </p:sp>
      <p:pic>
        <p:nvPicPr>
          <p:cNvPr id="6" name="Picture 5" descr="fig05_gra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51" y="1554480"/>
            <a:ext cx="10915192" cy="37947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Uncorrected: 5 real and 2 false winners. Holm: 2 real, none false. BH 5%: 2 real, 0 false.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A tiered segment list instead of seven circled winners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19 · Testing a campaign across 40 segments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94413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71332"/>
                <a:gridCol w="1313812"/>
                <a:gridCol w="1605770"/>
                <a:gridCol w="3503499"/>
              </a:tblGrid>
              <a:tr h="3886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Segments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Average uplift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Confirmed (survives Holm, FWER 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+2.3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Target 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Promising (BH q &lt; 0.10): confirm in wave 3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+2.0 pp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Confirm in wave 3, then target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Not supported by the data: default campaign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+0.4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Keep the default campaign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Negative or none: do not target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−0.5 pp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Do not target; investigate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Budget with shrunken uplifts, not the raw wave-1 numbers.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19 · Testing a campaign across 40 segments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94415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Keep the campaign broad.</a:t>
            </a:r>
            <a:r>
              <a:rPr sz="2000" b="0">
                <a:solidFill>
                  <a:srgbClr val="1A1A1A"/>
                </a:solidFill>
                <a:latin typeface="Calibri"/>
              </a:rPr>
              <a:t> Its overall effect is positive; nothing justifies dropping 34 segments.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Target the 2 confirmed segments now</a:t>
            </a:r>
            <a:r>
              <a:rPr sz="2000" b="0">
                <a:solidFill>
                  <a:srgbClr val="1A1A1A"/>
                </a:solidFill>
                <a:latin typeface="Calibri"/>
              </a:rPr>
              <a:t> and re-test the 4 promising ones in a confirmation wave.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Budget with shrunken uplifts.</a:t>
            </a:r>
            <a:r>
              <a:rPr sz="2000" b="0">
                <a:solidFill>
                  <a:srgbClr val="1A1A1A"/>
                </a:solidFill>
                <a:latin typeface="Calibri"/>
              </a:rPr>
              <a:t> Raw winners' effects are overstated.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Declare the analysis plan in advance:</a:t>
            </a:r>
            <a:r>
              <a:rPr sz="2000" b="0">
                <a:solidFill>
                  <a:srgbClr val="1A1A1A"/>
                </a:solidFill>
                <a:latin typeface="Calibri"/>
              </a:rPr>
              <a:t> primary test = overall effect; segment tests = a pre-defined family of 40.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Show corrected values (BH q-values) next to p-values</a:t>
            </a:r>
            <a:r>
              <a:rPr sz="2000" b="0">
                <a:solidFill>
                  <a:srgbClr val="1A1A1A"/>
                </a:solidFill>
                <a:latin typeface="Calibri"/>
              </a:rPr>
              <a:t> in every experiment report.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Decision needed: approve the tiered list and the confirmation wave.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Limitations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19 · Testing a campaign across 40 segments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31860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2A78D6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5318607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Segments overlap in practice, so error rates are approximate.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Wave 2 has the same power limits as wave 1.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Segment tests are underpowered for modest effects.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600200"/>
            <a:ext cx="531860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EB6834"/>
                </a:solidFill>
                <a:latin typeface="Calibri"/>
              </a:rPr>
              <a:t>Next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2148840"/>
            <a:ext cx="5318607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Confirmation wave sized for the promising segments.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Hierarchical model across type and region.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Individual-level uplift modelling.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
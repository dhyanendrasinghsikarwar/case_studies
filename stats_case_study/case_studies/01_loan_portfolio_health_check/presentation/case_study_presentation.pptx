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Personal-Loan Book Health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Board Risk Committee pre-read · Retail Risk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Based on an audited random sample of 2,500 loans from a book of 60,000.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the book is very likely above risk appetite, and loans are larger than planned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01 · Personal-loan portfolio health check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Delinquency is above appetite.</a:t>
            </a:r>
            <a:r>
              <a:rPr sz="1800" b="0">
                <a:solidFill>
                  <a:srgbClr val="1A1A1A"/>
                </a:solidFill>
                <a:latin typeface="Calibri"/>
              </a:rPr>
              <a:t> About </a:t>
            </a:r>
            <a:r>
              <a:rPr sz="1800" b="1">
                <a:solidFill>
                  <a:srgbClr val="1A1A1A"/>
                </a:solidFill>
                <a:latin typeface="Calibri"/>
              </a:rPr>
              <a:t>5.4%</a:t>
            </a:r>
            <a:r>
              <a:rPr sz="1800" b="0">
                <a:solidFill>
                  <a:srgbClr val="1A1A1A"/>
                </a:solidFill>
                <a:latin typeface="Calibri"/>
              </a:rPr>
              <a:t> of loans went 90+ days past due within 12 months, against a </a:t>
            </a:r>
            <a:r>
              <a:rPr sz="1800" b="1">
                <a:solidFill>
                  <a:srgbClr val="1A1A1A"/>
                </a:solidFill>
                <a:latin typeface="Calibri"/>
              </a:rPr>
              <a:t>4%</a:t>
            </a:r>
            <a:r>
              <a:rPr sz="1800" b="0">
                <a:solidFill>
                  <a:srgbClr val="1A1A1A"/>
                </a:solidFill>
                <a:latin typeface="Calibri"/>
              </a:rPr>
              <a:t> appetite (likely range 4.5%–6.3%).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Loans are ~8% larger than the plan assumed.</a:t>
            </a:r>
            <a:r>
              <a:rPr sz="1800" b="0">
                <a:solidFill>
                  <a:srgbClr val="1A1A1A"/>
                </a:solidFill>
                <a:latin typeface="Calibri"/>
              </a:rPr>
              <a:t> Average ticket ₹3.25 lakh vs ₹3.00 lakh, about </a:t>
            </a:r>
            <a:r>
              <a:rPr sz="1800" b="1">
                <a:solidFill>
                  <a:srgbClr val="1A1A1A"/>
                </a:solidFill>
                <a:latin typeface="Calibri"/>
              </a:rPr>
              <a:t>₹147 crore</a:t>
            </a:r>
            <a:r>
              <a:rPr sz="1800" b="0">
                <a:solidFill>
                  <a:srgbClr val="1A1A1A"/>
                </a:solidFill>
                <a:latin typeface="Calibri"/>
              </a:rPr>
              <a:t> more exposure across the book.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The 'average' loan is not the typical loan.</a:t>
            </a:r>
            <a:r>
              <a:rPr sz="1800" b="0">
                <a:solidFill>
                  <a:srgbClr val="1A1A1A"/>
                </a:solidFill>
                <a:latin typeface="Calibri"/>
              </a:rPr>
              <a:t> Half of loans are below ₹2.5 lakh. Large loans (≥ ₹5 lakh) are 16% of loans but 40% of the money.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DTI policy exceptions are under control</a:t>
            </a:r>
            <a:r>
              <a:rPr sz="1800" b="0">
                <a:solidFill>
                  <a:srgbClr val="1A1A1A"/>
                </a:solidFill>
                <a:latin typeface="Calibri"/>
              </a:rPr>
              <a:t> at 0.4%, well within the 1% limit.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Next:</a:t>
            </a:r>
            <a:r>
              <a:rPr sz="1800" b="0">
                <a:solidFill>
                  <a:srgbClr val="1A1A1A"/>
                </a:solidFill>
                <a:latin typeface="Calibri"/>
              </a:rPr>
              <a:t> a driver analysis before any corrective action. The DSA channel is the first place to look.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Recommendation: report an appetite breach to the Board and commission a driver analysis within 6 weeks.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What the CRO needs to tell the 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01 · Personal-loan portfolio health check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What the Board wants to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What does a typical personal loan look like?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How concentrated is the money in large loans?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Is the average ticket in line with the ₹3.0 lakh plan?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Is 12-month serious delinquency (90+ DPD) within the 4% appetite?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Are DTI policy exceptions within the 1% limit?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Why this needed 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A system migration left key fields unreconciled.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Internal Audit re-verified a </a:t>
            </a:r>
            <a:r>
              <a:rPr sz="1700" b="1">
                <a:solidFill>
                  <a:srgbClr val="1A1A1A"/>
                </a:solidFill>
                <a:latin typeface="Calibri"/>
              </a:rPr>
              <a:t>random sample</a:t>
            </a:r>
            <a:r>
              <a:rPr sz="1700" b="0">
                <a:solidFill>
                  <a:srgbClr val="1A1A1A"/>
                </a:solidFill>
                <a:latin typeface="Calibri"/>
              </a:rPr>
              <a:t> of 2,500 loan files.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Every number is therefore an </a:t>
            </a:r>
            <a:r>
              <a:rPr sz="1700" b="1">
                <a:solidFill>
                  <a:srgbClr val="1A1A1A"/>
                </a:solidFill>
                <a:latin typeface="Calibri"/>
              </a:rPr>
              <a:t>estimate</a:t>
            </a:r>
            <a:r>
              <a:rPr sz="1700" b="0">
                <a:solidFill>
                  <a:srgbClr val="1A1A1A"/>
                </a:solidFill>
                <a:latin typeface="Calibri"/>
              </a:rPr>
              <a:t>, so we report how precise it 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We answer every question with a number AND a margin of error, so the Board knows how firm each number 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 audit sample is a fair, clean miniature of the 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01 · Personal-loan portfolio health check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2,500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loans audited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Chosen at random from all 60,000 loans, so every loan had an equal chance.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0823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18 mths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of disbursals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Jan-2024 to Jun-2025; every loan observed for at least 12 months.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6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±1.5 pp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mix vs book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Channel, region and employment mix of the sample match the book closely.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9075189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18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data errors fixed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Duplicates, decimal-keyed rates, annual-as-monthly incomes, invalid ages. Plus 134 'no credit history' codes handled correctly.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Because the sample is random, results apply to the whole book, within the margins of error shown.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Approach: clean, describe, estimate with margins of error, then test against targets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01 · Personal-loan portfolio health check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1. Clean:</a:t>
            </a:r>
            <a:r>
              <a:rPr sz="2000" b="0">
                <a:solidFill>
                  <a:srgbClr val="1A1A1A"/>
                </a:solidFill>
                <a:latin typeface="Calibri"/>
              </a:rPr>
              <a:t> remove duplicates and fix provable errors. Large loans were verified as genuine and kept.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2. Describe:</a:t>
            </a:r>
            <a:r>
              <a:rPr sz="2000" b="0">
                <a:solidFill>
                  <a:srgbClr val="1A1A1A"/>
                </a:solidFill>
                <a:latin typeface="Calibri"/>
              </a:rPr>
              <a:t> typical values, spread and concentration, using the median where averages mislead.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3. Estimate:</a:t>
            </a:r>
            <a:r>
              <a:rPr sz="2000" b="0">
                <a:solidFill>
                  <a:srgbClr val="1A1A1A"/>
                </a:solidFill>
                <a:latin typeface="Calibri"/>
              </a:rPr>
              <a:t> for every key number, a range that is right 95% of the time (a '95% confidence interval').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4. Test:</a:t>
            </a:r>
            <a:r>
              <a:rPr sz="2000" b="0">
                <a:solidFill>
                  <a:srgbClr val="1A1A1A"/>
                </a:solidFill>
                <a:latin typeface="Calibri"/>
              </a:rPr>
              <a:t> could the gap between our number and the target be just the luck of the sample?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5. Check:</a:t>
            </a:r>
            <a:r>
              <a:rPr sz="2000" b="0">
                <a:solidFill>
                  <a:srgbClr val="1A1A1A"/>
                </a:solidFill>
                <a:latin typeface="Calibri"/>
              </a:rPr>
              <a:t> we confirmed by simulation that the method's ranges capture the truth ~95% of the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Statistics here answers one question: how sure can we be when we only looked at 1 in 24 loans?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A typical personal loan: ₹2.5 lakh at about 16% over three years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01 · Personal-loan portfolio health check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₹2.5 lakh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median loan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Half of loans are smaller, half larger. This is the 'typical' customer.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0823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₹3.25 lakh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average loan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Pulled up by a minority of large loans. Use it for exposure totals.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6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15.7%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average interest rate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Tightly clustered: most loans are within ±1.6 points.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075189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36 months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most common tenure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Larger loans tend to take 48–60 months.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Design products around the median customer. Plan capital using the average.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Most loans are small, but a long tail of large loans pulls the average above the typical loan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01 · Personal-loan portfolio health check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ig01_loan_amou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16633"/>
            <a:ext cx="7100424" cy="39391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69105" y="1645920"/>
            <a:ext cx="367395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Half of all loans are below </a:t>
            </a:r>
            <a:r>
              <a:rPr sz="1600" b="1">
                <a:solidFill>
                  <a:srgbClr val="1A1A1A"/>
                </a:solidFill>
                <a:latin typeface="Calibri"/>
              </a:rPr>
              <a:t>₹2.5 lakh</a:t>
            </a:r>
            <a:r>
              <a:rPr sz="160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The average (</a:t>
            </a:r>
            <a:r>
              <a:rPr sz="1600" b="1">
                <a:solidFill>
                  <a:srgbClr val="1A1A1A"/>
                </a:solidFill>
                <a:latin typeface="Calibri"/>
              </a:rPr>
              <a:t>₹3.25 lakh</a:t>
            </a:r>
            <a:r>
              <a:rPr sz="1600" b="0">
                <a:solidFill>
                  <a:srgbClr val="1A1A1A"/>
                </a:solidFill>
                <a:latin typeface="Calibri"/>
              </a:rPr>
              <a:t>) sits above most loans because a few are up to ₹15 lakh.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Spikes at round amounts: customers ask for ₹1, 2, 3 lakh.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Large loans are </a:t>
            </a:r>
            <a:r>
              <a:rPr sz="1600" b="1">
                <a:solidFill>
                  <a:srgbClr val="1A1A1A"/>
                </a:solidFill>
                <a:latin typeface="Calibri"/>
              </a:rPr>
              <a:t>genuine</a:t>
            </a:r>
            <a:r>
              <a:rPr sz="1600" b="0">
                <a:solidFill>
                  <a:srgbClr val="1A1A1A"/>
                </a:solidFill>
                <a:latin typeface="Calibri"/>
              </a:rPr>
              <a:t>, not data errors, so they stay 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Loans of ₹5 lakh and above are 16% of loans but 40% of exposure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01 · Personal-loan portfolio health check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3" cy="2720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405"/>
                <a:gridCol w="3467004"/>
                <a:gridCol w="3467004"/>
              </a:tblGrid>
              <a:tr h="3886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Loan size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Share of loans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Share of money lent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≤ ₹1L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₹1–2L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28%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₹2–3L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₹3–5L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22%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27%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₹5–10L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₹10–15L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Losses will be driven by large loans. Monitor the ≥ ₹5 lakh segment separately, not just book averages.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Loans are about 8% larger than the business plan assumed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01 · Personal-loan portfolio health check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₹3.25 lakh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average ticket (actual)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Likely range ₹3.14 lakh – ₹3.35 lakh.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0823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₹3.00 lakh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plan assumption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Used in the capital and provisioning plan.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6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+₹25k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per loan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Too large to be the luck of the sample (less than 1-in-1,000 chance).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9075189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≈ ₹147 cr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extra exposure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Across 60,000 loans; likely ₹84–211 crore.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Small per loan, material for the book: re-base the plan's ticket size for capital and provisioning.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Serious delinquency is about 5.4%, above the 4% risk appetite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01 · Personal-loan portfolio health check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fig05_default_rate_by_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14306"/>
            <a:ext cx="6656649" cy="34751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25329" y="1645920"/>
            <a:ext cx="4117726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Book estimate </a:t>
            </a:r>
            <a:r>
              <a:rPr sz="1600" b="1">
                <a:solidFill>
                  <a:srgbClr val="1A1A1A"/>
                </a:solidFill>
                <a:latin typeface="Calibri"/>
              </a:rPr>
              <a:t>5.4%</a:t>
            </a:r>
            <a:r>
              <a:rPr sz="1600" b="0">
                <a:solidFill>
                  <a:srgbClr val="1A1A1A"/>
                </a:solidFill>
                <a:latin typeface="Calibri"/>
              </a:rPr>
              <a:t>; likely range </a:t>
            </a:r>
            <a:r>
              <a:rPr sz="1600" b="1">
                <a:solidFill>
                  <a:srgbClr val="1A1A1A"/>
                </a:solidFill>
                <a:latin typeface="Calibri"/>
              </a:rPr>
              <a:t>4.5%–6.3%</a:t>
            </a:r>
            <a:r>
              <a:rPr sz="1600" b="0">
                <a:solidFill>
                  <a:srgbClr val="1A1A1A"/>
                </a:solidFill>
                <a:latin typeface="Calibri"/>
              </a:rPr>
              <a:t>. The whole range is above 4%.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If the book were truly at 4%, an audit result this high would happen less than </a:t>
            </a:r>
            <a:r>
              <a:rPr sz="1600" b="1">
                <a:solidFill>
                  <a:srgbClr val="1A1A1A"/>
                </a:solidFill>
                <a:latin typeface="Calibri"/>
              </a:rPr>
              <a:t>1 time in 1,000</a:t>
            </a:r>
            <a:r>
              <a:rPr sz="160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DSA-sourced loans: </a:t>
            </a:r>
            <a:r>
              <a:rPr sz="1600" b="1">
                <a:solidFill>
                  <a:srgbClr val="1A1A1A"/>
                </a:solidFill>
                <a:latin typeface="Calibri"/>
              </a:rPr>
              <a:t>~8%</a:t>
            </a:r>
            <a:r>
              <a:rPr sz="1600" b="0">
                <a:solidFill>
                  <a:srgbClr val="1A1A1A"/>
                </a:solidFill>
                <a:latin typeface="Calibri"/>
              </a:rPr>
              <a:t>, roughly double Branch and Digital (4.6%–4.7%).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Bars show the range of plausible values; smaller segments have wider bars.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Treat this as an appetite breach. The DSA gap is a lead to investigate, not yet a proven cause.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How sure are we? Each conclusion holds across its whole likely range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01 · Personal-loan portfolio health check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2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7297"/>
                <a:gridCol w="1794684"/>
                <a:gridCol w="2610450"/>
                <a:gridCol w="1957837"/>
                <a:gridCol w="2284144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Our estimate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Likely range (95%)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Average ticket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₹3.25 lakh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₹3.14 lakh – ₹3.35 lakh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₹3.00 lakh (plan)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Above plan (firm)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Typical (median) ticket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₹2.5 lakh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₹2.4 lakh – ₹2.5 lakh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12-month 90+ DPD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4.5% – 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≤ 4% (appetite)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Above appetite (firm)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DTI policy exceptions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0.44%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0.25% – 0.79%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≤ 1% (limit)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Within limit (firm)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'Firm' means the conclusion holds anywhere in the likely range, not only at our single best estimate.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What we can and cannot say yet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01 · Personal-loan portfolio health check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We can say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The book is very likely above the 4% appetite.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Average ticket is above plan by ~8%.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Exposure is concentrated in large loans.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DTI exceptions are within limit.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We cannot say yet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Why</a:t>
            </a:r>
            <a:r>
              <a:rPr sz="1700" b="0">
                <a:solidFill>
                  <a:srgbClr val="1A1A1A"/>
                </a:solidFill>
                <a:latin typeface="Calibri"/>
              </a:rPr>
              <a:t> delinquency is high. DSA customers may simply have weaker profiles.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Whether it is </a:t>
            </a:r>
            <a:r>
              <a:rPr sz="1700" b="1">
                <a:solidFill>
                  <a:srgbClr val="1A1A1A"/>
                </a:solidFill>
                <a:latin typeface="Calibri"/>
              </a:rPr>
              <a:t>getting worse</a:t>
            </a:r>
            <a:r>
              <a:rPr sz="1700" b="0">
                <a:solidFill>
                  <a:srgbClr val="1A1A1A"/>
                </a:solidFill>
                <a:latin typeface="Calibri"/>
              </a:rPr>
              <a:t>: we pooled 18 months of loans.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Anything about loans under 12 months old.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Whether self-employed borrowers are riskier: the gap is within the noise.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We know where to look, not yet what to change. Acting on the DSA channel now risks fixing the wrong thing.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01 · Personal-loan portfolio health check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Escalate:</a:t>
            </a:r>
            <a:r>
              <a:rPr sz="2000" b="0">
                <a:solidFill>
                  <a:srgbClr val="1A1A1A"/>
                </a:solidFill>
                <a:latin typeface="Calibri"/>
              </a:rPr>
              <a:t> report the 90+ DPD appetite breach to the Board, with its likely range.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Diagnose before acting:</a:t>
            </a:r>
            <a:r>
              <a:rPr sz="2000" b="0">
                <a:solidFill>
                  <a:srgbClr val="1A1A1A"/>
                </a:solidFill>
                <a:latin typeface="Calibri"/>
              </a:rPr>
              <a:t> a 4–6 week driver analysis separating channel, credit score and DTI effects.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Re-base the plan:</a:t>
            </a:r>
            <a:r>
              <a:rPr sz="2000" b="0">
                <a:solidFill>
                  <a:srgbClr val="1A1A1A"/>
                </a:solidFill>
                <a:latin typeface="Calibri"/>
              </a:rPr>
              <a:t> use an average ticket of about ₹3.25 lakh for capital and provisioning.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Report better:</a:t>
            </a:r>
            <a:r>
              <a:rPr sz="2000" b="0">
                <a:solidFill>
                  <a:srgbClr val="1A1A1A"/>
                </a:solidFill>
                <a:latin typeface="Calibri"/>
              </a:rPr>
              <a:t> show median and percentiles alongside averages; attach a margin of error to every sample-based number.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Fix the data pipeline:</a:t>
            </a:r>
            <a:r>
              <a:rPr sz="2000" b="0">
                <a:solidFill>
                  <a:srgbClr val="1A1A1A"/>
                </a:solidFill>
                <a:latin typeface="Calibri"/>
              </a:rPr>
              <a:t> duplicates, unit errors and 'no-history' codes must be fixed before the next system report.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decision for the Board: acknowledge the breach now; approve the diagnostic work that precedes corrective action.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Limitations: what could change these 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01 · Personal-loan portfolio health check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Sample-based:</a:t>
            </a:r>
            <a:r>
              <a:rPr sz="2000" b="0">
                <a:solidFill>
                  <a:srgbClr val="1A1A1A"/>
                </a:solidFill>
                <a:latin typeface="Calibri"/>
              </a:rPr>
              <a:t> book-level numbers are precise; segment numbers (e.g., DSA, ~470 loans) much less so.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One definition of default</a:t>
            </a:r>
            <a:r>
              <a:rPr sz="2000" b="0">
                <a:solidFill>
                  <a:srgbClr val="1A1A1A"/>
                </a:solidFill>
                <a:latin typeface="Calibri"/>
              </a:rPr>
              <a:t> (ever 90+ DPD in 12 months). Other definitions can differ.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Income</a:t>
            </a:r>
            <a:r>
              <a:rPr sz="2000" b="0">
                <a:solidFill>
                  <a:srgbClr val="1A1A1A"/>
                </a:solidFill>
                <a:latin typeface="Calibri"/>
              </a:rPr>
              <a:t> is missing for 4% of loans, mostly self-employed, so income figures are for verified loans only.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Pooled period:</a:t>
            </a:r>
            <a:r>
              <a:rPr sz="2000" b="0">
                <a:solidFill>
                  <a:srgbClr val="1A1A1A"/>
                </a:solidFill>
                <a:latin typeface="Calibri"/>
              </a:rPr>
              <a:t> recent months could be better or worse than the 18-month average.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Approved loans only:</a:t>
            </a:r>
            <a:r>
              <a:rPr sz="2000" b="0">
                <a:solidFill>
                  <a:srgbClr val="1A1A1A"/>
                </a:solidFill>
                <a:latin typeface="Calibri"/>
              </a:rPr>
              <a:t> results describe the book, not all applicants.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No cause-and-effect conclusions:</a:t>
            </a:r>
            <a:r>
              <a:rPr sz="2000" b="0">
                <a:solidFill>
                  <a:srgbClr val="1A1A1A"/>
                </a:solidFill>
                <a:latin typeface="Calibri"/>
              </a:rPr>
              <a:t> differences between segments are associations.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01 · Personal-loan portfolio health check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Weeks 1–2:</a:t>
            </a:r>
            <a:r>
              <a:rPr sz="2000" b="0">
                <a:solidFill>
                  <a:srgbClr val="1A1A1A"/>
                </a:solidFill>
                <a:latin typeface="Calibri"/>
              </a:rPr>
              <a:t> formal comparison of channels and customer types (are the gaps real?).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Weeks 2–4:</a:t>
            </a:r>
            <a:r>
              <a:rPr sz="2000" b="0">
                <a:solidFill>
                  <a:srgbClr val="1A1A1A"/>
                </a:solidFill>
                <a:latin typeface="Calibri"/>
              </a:rPr>
              <a:t> vintage view: delinquency by disbursal quarter, to establish the trend.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Weeks 3–6:</a:t>
            </a:r>
            <a:r>
              <a:rPr sz="2000" b="0">
                <a:solidFill>
                  <a:srgbClr val="1A1A1A"/>
                </a:solidFill>
                <a:latin typeface="Calibri"/>
              </a:rPr>
              <a:t> driver model of delinquency (score, DTI, channel, employment, age).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Next quarter:</a:t>
            </a:r>
            <a:r>
              <a:rPr sz="2000" b="0">
                <a:solidFill>
                  <a:srgbClr val="1A1A1A"/>
                </a:solidFill>
                <a:latin typeface="Calibri"/>
              </a:rPr>
              <a:t> a targeted audit of DSA and ≥ ₹5 lakh loans to sharpen segment estimates.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Ongoing:</a:t>
            </a:r>
            <a:r>
              <a:rPr sz="2000" b="0">
                <a:solidFill>
                  <a:srgbClr val="1A1A1A"/>
                </a:solidFill>
                <a:latin typeface="Calibri"/>
              </a:rPr>
              <a:t> monthly delinquency tracking with statistical control limits (react to signal, not noise).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Return to the Committee next quarter with drivers identified and options costed.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
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Where Should Next Year's Acquisition Budget 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Comparing five card-acquisition channels · Cards Marketing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6,000 customers acquired last year, first-year net revenue and cost per acquisition by channel.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the aggregator is not our best channel, and social media is not our worst investment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Channels do differ in first-year revenue per customer</a:t>
            </a:r>
            <a:r>
              <a:rPr sz="1600" b="0">
                <a:solidFill>
                  <a:srgbClr val="1A1A1A"/>
                </a:solidFill>
                <a:latin typeface="Calibri"/>
              </a:rPr>
              <a:t>, but only </a:t>
            </a:r>
            <a:r>
              <a:rPr sz="1600" b="1">
                <a:solidFill>
                  <a:srgbClr val="1A1A1A"/>
                </a:solidFill>
                <a:latin typeface="Calibri"/>
              </a:rPr>
              <a:t>social media</a:t>
            </a:r>
            <a:r>
              <a:rPr sz="1600" b="0">
                <a:solidFill>
                  <a:srgbClr val="1A1A1A"/>
                </a:solidFill>
                <a:latin typeface="Calibri"/>
              </a:rPr>
              <a:t> is reliably lower (₹2,188 vs about ₹3,050–3,300 elsewhere).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The aggregator's lead is not reliable</a:t>
            </a:r>
            <a:r>
              <a:rPr sz="1600" b="0">
                <a:solidFill>
                  <a:srgbClr val="1A1A1A"/>
                </a:solidFill>
                <a:latin typeface="Calibri"/>
              </a:rPr>
              <a:t> and comes from </a:t>
            </a:r>
            <a:r>
              <a:rPr sz="1600" b="1">
                <a:solidFill>
                  <a:srgbClr val="1A1A1A"/>
                </a:solidFill>
                <a:latin typeface="Calibri"/>
              </a:rPr>
              <a:t>richer customers</a:t>
            </a:r>
            <a:r>
              <a:rPr sz="1600" b="0">
                <a:solidFill>
                  <a:srgbClr val="1A1A1A"/>
                </a:solidFill>
                <a:latin typeface="Calibri"/>
              </a:rPr>
              <a:t>: at the same income, its customers are worth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₹659 less</a:t>
            </a:r>
            <a:r>
              <a:rPr sz="1600" b="0">
                <a:solidFill>
                  <a:srgbClr val="1A1A1A"/>
                </a:solidFill>
                <a:latin typeface="Calibri"/>
              </a:rPr>
              <a:t> than branch customers.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After acquisition cost, the partner co-brand is best</a:t>
            </a:r>
            <a:r>
              <a:rPr sz="1600" b="0">
                <a:solidFill>
                  <a:srgbClr val="1A1A1A"/>
                </a:solidFill>
                <a:latin typeface="Calibri"/>
              </a:rPr>
              <a:t> (₹2,146 net per customer) and the </a:t>
            </a:r>
            <a:r>
              <a:rPr sz="1600" b="1">
                <a:solidFill>
                  <a:srgbClr val="1A1A1A"/>
                </a:solidFill>
                <a:latin typeface="Calibri"/>
              </a:rPr>
              <a:t>aggregator worst</a:t>
            </a:r>
            <a:r>
              <a:rPr sz="1600" b="0">
                <a:solidFill>
                  <a:srgbClr val="1A1A1A"/>
                </a:solidFill>
                <a:latin typeface="Calibri"/>
              </a:rPr>
              <a:t> (₹409).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Social media is cheap:</a:t>
            </a:r>
            <a:r>
              <a:rPr sz="1600" b="0">
                <a:solidFill>
                  <a:srgbClr val="1A1A1A"/>
                </a:solidFill>
                <a:latin typeface="Calibri"/>
              </a:rPr>
              <a:t> it returns more value per rupee than branch, search or the aggregator.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do not double the aggregator or cut social media; grow the partner channel and test before big shifts.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Customers vary far more within a channel than between channels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revenue_by_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53" y="1554480"/>
            <a:ext cx="1072118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Channel explains only about 1% of the variation in customer revenue, but ₹ differences × volume still matter.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Which channels really differ? Only social media stands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fig03_posth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052" y="1554480"/>
            <a:ext cx="825959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All 10 pairs compared at once, with a correction so that chance differences are not mistaken for real ones.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The aggregator's advantage is its customers' income, not the channel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4_anc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530" y="1554480"/>
            <a:ext cx="848263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High-income customers from the aggregator are worth less than high-income customers from other channels.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Net of what each customer cost us, the ranking reverses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2" cy="2400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629"/>
                <a:gridCol w="2113221"/>
                <a:gridCol w="2113221"/>
                <a:gridCol w="2113221"/>
                <a:gridCol w="1937120"/>
              </a:tblGrid>
              <a:tr h="400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Channel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Revenue per customer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Cost per acquisition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Net per customer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 per ₹1 spent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Branch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₹3,054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₹854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₹1.39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Search ads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₹3,116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₹1,800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₹1,316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₹1.73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Social media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₹1,088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Aggregator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₹3,309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₹2,900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₹409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₹1.14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0005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Partner co-brand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₹3,046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₹900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₹2,146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₹3.38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aggregator has the highest revenue per customer and the lowest return on spend.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the next ₹1 lakh would buy, at today's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5_channel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63013"/>
            <a:ext cx="11094415" cy="37776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Averages, not marginal returns: doubling a channel's budget may bring worse or costlier customers.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How sure are we?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p &lt; 0.001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channels differ (Welch test)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F = 21.8; robust to unequal spreads.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of customer variation explained by channel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Small per customer, material across thousands.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±₹140–356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95% range on net value per customer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Partner clearly best; aggregator's range nearly reaches zero.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ranking of partner (best) and aggregator (worst) is robust; the middle three are closer.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double the aggregator budget.</a:t>
            </a:r>
            <a:r>
              <a:rPr sz="2000" b="0">
                <a:solidFill>
                  <a:srgbClr val="1A1A1A"/>
                </a:solidFill>
                <a:latin typeface="Calibri"/>
              </a:rPr>
              <a:t> It is the most expensive channel and, at the same income, the weakest.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Do not cut social media</a:t>
            </a:r>
            <a:r>
              <a:rPr sz="2000" b="0">
                <a:solidFill>
                  <a:srgbClr val="1A1A1A"/>
                </a:solidFill>
                <a:latin typeface="Calibri"/>
              </a:rPr>
              <a:t> on revenue alone: it is cheap and returns more per rupee than branch or aggregator.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Grow the partner co-brand</a:t>
            </a:r>
            <a:r>
              <a:rPr sz="2000" b="0">
                <a:solidFill>
                  <a:srgbClr val="1A1A1A"/>
                </a:solidFill>
                <a:latin typeface="Calibri"/>
              </a:rPr>
              <a:t> as far as its capacity allows.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Test whether high-income customers can be reached more cheaply</a:t>
            </a:r>
            <a:r>
              <a:rPr sz="2000" b="0">
                <a:solidFill>
                  <a:srgbClr val="1A1A1A"/>
                </a:solidFill>
                <a:latin typeface="Calibri"/>
              </a:rPr>
              <a:t> through search or partners.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a controlled budget test</a:t>
            </a:r>
            <a:r>
              <a:rPr sz="2000" b="0">
                <a:solidFill>
                  <a:srgbClr val="1A1A1A"/>
                </a:solidFill>
                <a:latin typeface="Calibri"/>
              </a:rPr>
              <a:t> (some regions or weeks) before any large shift, to measure marginal returns.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a partner-led reallocation and a budget-shift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14 · Which acquisition channel brings the most valuable customers?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Observed, not randomised: channels were not assigned at random.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Average, not marginal, costs and values.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First-year value only; retention may differ.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Geo budget-shift experiment.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Extend to lifetime value.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Add card type as a second factor.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
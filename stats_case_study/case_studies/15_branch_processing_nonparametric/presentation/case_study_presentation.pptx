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Which Branches Are Slow, and Did the New Workflow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Branch comparison and workflow pilot · Lending Operations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190 personal loans from 5 branches; a 20-officer workflow pilot.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two branches are slower, and the workflow saves about a day; the 'not significant' verdict came from the wrong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Panvel and Thane are slower:</a:t>
            </a:r>
            <a:r>
              <a:rPr sz="1600" b="0">
                <a:solidFill>
                  <a:srgbClr val="1A1A1A"/>
                </a:solidFill>
                <a:latin typeface="Calibri"/>
              </a:rPr>
              <a:t> typical times 10 and 8 days vs about 6 at Andheri, Borivali and Vashi.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Averages hide it:</a:t>
            </a:r>
            <a:r>
              <a:rPr sz="1600" b="0">
                <a:solidFill>
                  <a:srgbClr val="1A1A1A"/>
                </a:solidFill>
                <a:latin typeface="Calibri"/>
              </a:rPr>
              <a:t> a few 'stuck' loans of 40–70 days blur the means. A test of averages found nothing (p = 0.10); a test of typical times found a clear difference (p &lt; 0.001).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new workflow cut a typical officer's time by about a day</a:t>
            </a:r>
            <a:r>
              <a:rPr sz="1600" b="0">
                <a:solidFill>
                  <a:srgbClr val="1A1A1A"/>
                </a:solidFill>
                <a:latin typeface="Calibri"/>
              </a:rPr>
              <a:t> (≈ 12%): 18 of 20 officers got faster.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One officer got 16 days slower</a:t>
            </a:r>
            <a:r>
              <a:rPr sz="1600" b="0">
                <a:solidFill>
                  <a:srgbClr val="1A1A1A"/>
                </a:solidFill>
                <a:latin typeface="Calibri"/>
              </a:rPr>
              <a:t> because of an unrelated system migration. It dragged the average change to −0.4 days and made the usual test say 'p = 0.65'.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roll out the workflow after fixing the migration issue; review processes at Panvel and Thane.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Stuck loans dominate the raw numbers; on a log scale the branch differences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branch_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53" y="1554480"/>
            <a:ext cx="1072118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Every branch has a few loans stuck for 40–70 days; typical loans at Panvel and Thane take longer.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Same data, opposite answers: it depends on what the test compares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490"/>
                <a:gridCol w="2295396"/>
                <a:gridCol w="3060528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Test of averages (ANOVA)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= 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difference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Test of averages, unequal spread (Welch)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= 0.13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 difference found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Test of log times (ANOVA)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Branches differ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Test of typical times (Kruskal-Wallis)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&lt; 0.001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Branches differ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Stuck loans inflate the noise in average-based tests. Pick the test from the question and the data's shape, before looking at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often is a loan at one branch slower than at another?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pairwise_supe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223" y="1554480"/>
            <a:ext cx="477924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6 of 10 pairs differ after correcting for multiple comparisons; Andheri, Borivali and Vashi are indistinguishable.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Workflow pilot: most officers got faster; one got much slower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pilot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88" y="1554480"/>
            <a:ext cx="1039531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one slow officer (red) was affected by a system migration, not by the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Workflow: the verdict depends on whether one extreme officer is allowed to dominate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490"/>
                <a:gridCol w="2295396"/>
                <a:gridCol w="3060528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Paired t-test (average change)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= 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Wilcoxon signed-rank (typical change)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= 0.003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Sign test (how many improved)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Permutation test (average change)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 = 0.86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Typical change: −1.1 days (95% range −1.6 to −0.6). Without the migration-affected officer, every test agrees.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When does each test win? Simulation with 20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4_power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61" y="1554480"/>
            <a:ext cx="8850372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With outliers or heavy tails, rank-based tests detect real effects far more often; with clean normal data, they lose very little.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Roll out the new workflow</a:t>
            </a:r>
            <a:r>
              <a:rPr sz="2000" b="0">
                <a:solidFill>
                  <a:srgbClr val="1A1A1A"/>
                </a:solidFill>
                <a:latin typeface="Calibri"/>
              </a:rPr>
              <a:t>, after resolving the migration problem that delayed one officer.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Review processes at Panvel and Thane</a:t>
            </a:r>
            <a:r>
              <a:rPr sz="2000" b="0">
                <a:solidFill>
                  <a:srgbClr val="1A1A1A"/>
                </a:solidFill>
                <a:latin typeface="Calibri"/>
              </a:rPr>
              <a:t>, separately from the stuck-loan problem, which affects every branch.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median processing time</a:t>
            </a:r>
            <a:r>
              <a:rPr sz="2000" b="0">
                <a:solidFill>
                  <a:srgbClr val="1A1A1A"/>
                </a:solidFill>
                <a:latin typeface="Calibri"/>
              </a:rPr>
              <a:t> and the </a:t>
            </a:r>
            <a:r>
              <a:rPr sz="2000" b="1">
                <a:solidFill>
                  <a:srgbClr val="1A1A1A"/>
                </a:solidFill>
                <a:latin typeface="Calibri"/>
              </a:rPr>
              <a:t>share of loans over 20 days</a:t>
            </a:r>
            <a:r>
              <a:rPr sz="2000" b="0">
                <a:solidFill>
                  <a:srgbClr val="1A1A1A"/>
                </a:solidFill>
                <a:latin typeface="Calibri"/>
              </a:rPr>
              <a:t> as two separate measures.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Use rank-based tests</a:t>
            </a:r>
            <a:r>
              <a:rPr sz="2000" b="0">
                <a:solidFill>
                  <a:srgbClr val="1A1A1A"/>
                </a:solidFill>
                <a:latin typeface="Calibri"/>
              </a:rPr>
              <a:t> for small samples of processing times; use averages only when ₹ totals matter.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Roll out in stages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comparison branches, so improvement can be separated from seasonality.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roll-out and the process reviews.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15 · Branch loan processing times and a new workflow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Branch case mix (loan size, customer type) may differ.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pilot had no control group.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20 officers, one month before and after.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Stepped roll-out across branches.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Model time-to-disbursement with loan characteristics.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Early-warning flag for stuck loans.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
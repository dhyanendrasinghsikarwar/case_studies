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The Statistics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What 27 business cases teach about asking, analysing and deciding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Summary of the case-study book. All data in the cases are synthetic, created for training.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workflow every case follows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Statistics for Data Science · the playbook · synthetic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Business question</a:t>
            </a:r>
            <a:r>
              <a:rPr sz="2000" b="0">
                <a:solidFill>
                  <a:srgbClr val="1A1A1A"/>
                </a:solidFill>
                <a:latin typeface="Calibri"/>
              </a:rPr>
              <a:t> → statistical question → outcome and population.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Data quality</a:t>
            </a:r>
            <a:r>
              <a:rPr sz="2000" b="0">
                <a:solidFill>
                  <a:srgbClr val="1A1A1A"/>
                </a:solidFill>
                <a:latin typeface="Calibri"/>
              </a:rPr>
              <a:t> → look at the data → pick the method (with alternatives).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Assumptions</a:t>
            </a:r>
            <a:r>
              <a:rPr sz="2000" b="0">
                <a:solidFill>
                  <a:srgbClr val="1A1A1A"/>
                </a:solidFill>
                <a:latin typeface="Calibri"/>
              </a:rPr>
              <a:t> → analysis → validation.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Interpretation</a:t>
            </a:r>
            <a:r>
              <a:rPr sz="2000" b="0">
                <a:solidFill>
                  <a:srgbClr val="1A1A1A"/>
                </a:solidFill>
                <a:latin typeface="Calibri"/>
              </a:rPr>
              <a:t> → what can and cannot be said → recommendation → limitations.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Start from the question,</a:t>
            </a:r>
            <a:r>
              <a:rPr sz="2000" b="0">
                <a:solidFill>
                  <a:srgbClr val="1A1A1A"/>
                </a:solidFill>
                <a:latin typeface="Calibri"/>
              </a:rPr>
              <a:t> never from 'which test can I run?'.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 result is only as good as the question, the data and the validation behind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Which method for which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Statistics for Data Science · the playbook · synthetic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4" cy="339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7234"/>
                <a:gridCol w="5752659"/>
                <a:gridCol w="2054521"/>
              </a:tblGrid>
              <a:tr h="37719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You want to…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Cases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Compare two means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Welch t; Mann-Whitney for heavy 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02, 15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Compare two proportions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Two-proportion z; Fisher if small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03, 04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Compare 3+ groups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ANOVA / Kruskal-Wallis, then post-hoc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14, 15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Many segments at once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Holm or Benjamini-Hochberg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Predict yes / 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Logistic regression; calibration and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11, 12, 13, 27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Time to an event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Kaplan-Meier, Cox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Forecast a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Seasonal naive baseline; rolling origin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Update a belief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Bayes, Beta-Binomial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method follows the estimand, the data and the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Reading results correctly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Statistics for Data Science · the playbook · synthetic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Always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Report the estimate, the interval and the effect size.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Compare the interval with a decision threshold.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Say how many things were examined.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Validate on data the method did not see.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Treat p &lt; 0.05 as 'it matters' or p &gt; 0.05 as 'no effect'.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Read an interval as covering bias.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Peek at a running test.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Compare the model with itself, not with a baseline.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Statistical significance is not practical significance (cases 04, 22).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Association is not causation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Statistics for Data Science · the playbook · synthetic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Selection:</a:t>
            </a:r>
            <a:r>
              <a:rPr sz="1800" b="0">
                <a:solidFill>
                  <a:srgbClr val="1A1A1A"/>
                </a:solidFill>
                <a:latin typeface="Calibri"/>
              </a:rPr>
              <a:t> engaged customers enrol and also churn less (case 21).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Adjusting for what you can measure</a:t>
            </a:r>
            <a:r>
              <a:rPr sz="1800" b="0">
                <a:solidFill>
                  <a:srgbClr val="1A1A1A"/>
                </a:solidFill>
                <a:latin typeface="Calibri"/>
              </a:rPr>
              <a:t> gives confident, wrong intervals when something unmeasured matters (case 21).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Randomise the offer;</a:t>
            </a:r>
            <a:r>
              <a:rPr sz="1800" b="0">
                <a:solidFill>
                  <a:srgbClr val="1A1A1A"/>
                </a:solidFill>
                <a:latin typeface="Calibri"/>
              </a:rPr>
              <a:t> read the intention-to-treat and complier effects (cases 04, 21).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Segments can reverse the total</a:t>
            </a:r>
            <a:r>
              <a:rPr sz="1800" b="0">
                <a:solidFill>
                  <a:srgbClr val="1A1A1A"/>
                </a:solidFill>
                <a:latin typeface="Calibri"/>
              </a:rPr>
              <a:t> (case 20); </a:t>
            </a:r>
            <a:r>
              <a:rPr sz="1800" b="1">
                <a:solidFill>
                  <a:srgbClr val="1A1A1A"/>
                </a:solidFill>
                <a:latin typeface="Calibri"/>
              </a:rPr>
              <a:t>selected winners are overstated</a:t>
            </a:r>
            <a:r>
              <a:rPr sz="1800" b="0">
                <a:solidFill>
                  <a:srgbClr val="1A1A1A"/>
                </a:solidFill>
                <a:latin typeface="Calibri"/>
              </a:rPr>
              <a:t> (cases 19, 22).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Proxies mimic drivers:</a:t>
            </a:r>
            <a:r>
              <a:rPr sz="1800" b="0">
                <a:solidFill>
                  <a:srgbClr val="1A1A1A"/>
                </a:solidFill>
                <a:latin typeface="Calibri"/>
              </a:rPr>
              <a:t> the agent channel and the interest rate in case 27.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Use 'associated with' unless the design supports 'causes'.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Messy data and special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Statistics for Data Science · the playbook · synthetic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Outliers:</a:t>
            </a:r>
            <a:r>
              <a:rPr sz="1700" b="0">
                <a:solidFill>
                  <a:srgbClr val="1A1A1A"/>
                </a:solidFill>
                <a:latin typeface="Calibri"/>
              </a:rPr>
              <a:t> decide what they are before touching them (16).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Missing values:</a:t>
            </a:r>
            <a:r>
              <a:rPr sz="1700" b="0">
                <a:solidFill>
                  <a:srgbClr val="1A1A1A"/>
                </a:solidFill>
                <a:latin typeface="Calibri"/>
              </a:rPr>
              <a:t> ask why; multiple imputation with the outcome (17).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Biased samples:</a:t>
            </a:r>
            <a:r>
              <a:rPr sz="1700" b="0">
                <a:solidFill>
                  <a:srgbClr val="1A1A1A"/>
                </a:solidFill>
                <a:latin typeface="Calibri"/>
              </a:rPr>
              <a:t> weights fix only what you measure; follow up non-respondents (18).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Skewed statistics:</a:t>
            </a:r>
            <a:r>
              <a:rPr sz="1700" b="0">
                <a:solidFill>
                  <a:srgbClr val="1A1A1A"/>
                </a:solidFill>
                <a:latin typeface="Calibri"/>
              </a:rPr>
              <a:t> bootstrap, with its limits (23).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Time series:</a:t>
            </a:r>
            <a:r>
              <a:rPr sz="1700" b="0">
                <a:solidFill>
                  <a:srgbClr val="1A1A1A"/>
                </a:solidFill>
                <a:latin typeface="Calibri"/>
              </a:rPr>
              <a:t> rolling-origin tests against seasonal naive (25).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Censored durations:</a:t>
            </a:r>
            <a:r>
              <a:rPr sz="1700" b="0">
                <a:solidFill>
                  <a:srgbClr val="1A1A1A"/>
                </a:solidFill>
                <a:latin typeface="Calibri"/>
              </a:rPr>
              <a:t> Kaplan-Meier, never the mean of finished cases (26).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quality of the data sets the ceiling for every method.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Highlights from the later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Statistics for Data Science · the playbook · synthetic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4" cy="339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2712"/>
                <a:gridCol w="9861702"/>
              </a:tblGrid>
              <a:tr h="37719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The lesson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 precise number from the wrong people is still wrong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Corrected p-values, winner's curse, tiered list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Adjustment gave narrow, wrong intervals; the pilot gave the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Compare the interval with the break-even; inconclusive is honest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The base rate does as much work as the screen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Autocorrelation breaks ordinary methods; beat seasonal naive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Censoring makes naive shares wrong (61% vs 42%)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Proxies, confounding, out-of-time validation and a costed decision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Every case ends with 'what we can say, what we cannot, and what to do'.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Before you present: ten checks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Statistics for Data Science · the playbook · synthetic case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Question and population stated? Data quality checked and logged?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Interval, effect size and a practical threshold for every number?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Assumptions checked? Number of tests counted and corrected?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Validated out of sample or out of time?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Causal language only where the design supports it?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What the analysis cannot tell us stated?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What would change the recommendation if the main assumption failed?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Full checklists: final_summary/decision_framework.md and statistics_cheat_sheet.md.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